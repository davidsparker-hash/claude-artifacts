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INVESTOR PRESENTATION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 COMPANY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spc="6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ANONA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collaborative creative software company.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2084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FIRST PRODUCT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29400" y="16916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spc="400" kern="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6720840" y="30632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 coordination layer for complex production — </a:t>
            </a:r>
            <a:pPr algn="l"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 between specialists, and live cost control for the client.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720840" y="4526280"/>
            <a:ext cx="1554480" cy="502920"/>
          </a:xfrm>
          <a:prstGeom prst="rect">
            <a:avLst/>
          </a:prstGeom>
          <a:solidFill>
            <a:srgbClr val="FAF7F2"/>
          </a:solidFill>
          <a:ln w="12700">
            <a:solidFill>
              <a:srgbClr val="C17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4572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SEED  </a:t>
            </a:r>
            <a:pPr algn="l" indent="0" marL="0">
              <a:buNone/>
            </a:pPr>
            <a:r>
              <a:rPr lang="en-US" sz="1500" b="1" dirty="0">
                <a:solidFill>
                  <a:srgbClr val="C17A1F"/>
                </a:solidFill>
              </a:rPr>
              <a:t>$3.75M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172200"/>
            <a:ext cx="11155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263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David Parker — founder and operator, twenty-six years inside advertising and post-production.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0" y="62362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 ×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CONTEXT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EARLIEST PHASE IS THE MOST CHAOTIC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made content generation easy.</a:t>
            </a:r>
            <a:endParaRPr lang="en-US" sz="32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made coordination harder.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production is slower and more expensive than it should be. The earliest phase of a project is the most chaotic — and every handoff between specialists is where time and money leak out.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38404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Generators made it easy to produce assets — but not easier to carry work correctly between the people and tools that do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761488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3408" y="2642616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evolve.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3172968"/>
            <a:ext cx="52120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3328416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3209544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react.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3739896"/>
            <a:ext cx="52120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3895344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3776472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hand off in sequence.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4306824"/>
            <a:ext cx="52120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4462272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4343400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Revisions cascade.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4873752"/>
            <a:ext cx="52120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CONTEXT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WHY NOW?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COORDINATION IS NO LONGER THE EASY PART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creation becomes easy, coordination becomes scarce.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made beautiful output cheap. But more outputs mean more handoffs, more places to lose the thread — and the client still can’t see where time and money go.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4178808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4059936"/>
            <a:ext cx="51023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options.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4572000"/>
            <a:ext cx="539496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4727448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4608576"/>
            <a:ext cx="51023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handoffs.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120640"/>
            <a:ext cx="539496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5276088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157216"/>
            <a:ext cx="51023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stakeholder opinions.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5669280"/>
            <a:ext cx="539496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20040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7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 faster teams can generate, the </a:t>
            </a:r>
            <a:pPr algn="l" indent="0" marL="0">
              <a:lnSpc>
                <a:spcPts val="3500"/>
              </a:lnSpc>
              <a:buNone/>
            </a:pPr>
            <a:r>
              <a:rPr lang="en-US" sz="27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harder it becomes to keep everyone aligned.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WHY NOW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THE SHIFT IN REAL NUMBERS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CISCO CAMPAIGNS · THREE YEARS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Cisco campaigns. Three</a:t>
            </a:r>
            <a:endParaRPr lang="en-US" sz="3100" dirty="0"/>
          </a:p>
          <a:p>
            <a:pPr algn="l" indent="0" marL="0">
              <a:lnSpc>
                <a:spcPts val="3700"/>
              </a:lnSpc>
              <a:buNone/>
            </a:pPr>
            <a:r>
              <a:rPr lang="en-US" sz="3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consecutive years. One story.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· JANE · FULL CG → FULL AI PRODUCTION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three consecutive years — full CG, then hybrid, then full AI — hard costs dropped from 62 cents on the dollar to 23. Margins nearly doubled, and held at scale.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1148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This is not a projection. </a:t>
            </a:r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model. This is what happened.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9834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advantage won’t be production efficiency — clients already know generation is cheap. It will be coordination: knowing what to make, and what it costs, before abundance becomes paralysis.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377440"/>
            <a:ext cx="52578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 COST PER DOLLAR OF 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28803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62¢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59536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3544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23¢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67512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1 · FULL CG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23544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3 · FULL AI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75120" y="4343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1 · FULL CG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698480" y="43434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62¢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75120" y="4590288"/>
            <a:ext cx="4754880" cy="109728"/>
          </a:xfrm>
          <a:prstGeom prst="rect">
            <a:avLst/>
          </a:prstGeom>
          <a:solidFill>
            <a:srgbClr val="F0E9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590288"/>
            <a:ext cx="2948026" cy="109728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2 · HYBRID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69848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~40¢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75120" y="5093208"/>
            <a:ext cx="4754880" cy="109728"/>
          </a:xfrm>
          <a:prstGeom prst="rect">
            <a:avLst/>
          </a:prstGeom>
          <a:solidFill>
            <a:srgbClr val="F0E9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5093208"/>
            <a:ext cx="1901952" cy="109728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5349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3 · FULL AI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698480" y="5349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23¢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75120" y="5596128"/>
            <a:ext cx="4754880" cy="109728"/>
          </a:xfrm>
          <a:prstGeom prst="rect">
            <a:avLst/>
          </a:prstGeom>
          <a:solidFill>
            <a:srgbClr val="F0E9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5596128"/>
            <a:ext cx="1093622" cy="109728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JANE · PROOF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WHAT TENET IS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TRANSLATION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translation, not automation.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 carries work between specialists who speak different professional languages — accurately, in real time, in both directions — without losing detail, time, or money in the gaps. It is not a tool that makes the work. It is the system that carries the work correctly between the people and tools that 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34290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CORRECTLY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language each department speaks — electrical needs load and code; interior needs color and feel — and summarize each for the next at the right level of detail.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3108960"/>
            <a:ext cx="34290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41148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 upstream ripples into exactly the tasks each downstream team needs. A conflict downstream ripples back up, in the language that team needs.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9560" y="3108960"/>
            <a:ext cx="34290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41148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budget-holder dictates up or down and watches cost and timeline recompute live. Opacity replaced with mathematics.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DEFINITION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WHERE TENET SITS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LAYERS OF CREATIVE PRODUCTION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coordination layer is contested. TENET owns its intersection.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11155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706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651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finance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54880" y="2651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Wrapbook · Saturation · Frame.io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503920" y="26517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money flow — no cross-vertical translation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11155680" cy="86868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474720"/>
            <a:ext cx="64008" cy="868680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307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/ orchestration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54880" y="3611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 · Autodesk Flow · ftrack · monday.com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03920" y="3611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TENET’s home — the only one client-facing on cost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434840"/>
            <a:ext cx="11155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9087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45720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suites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754880" y="4572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Magnific · Adobe Firefly · Runway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03920" y="4572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+ collaboration — ascending toward L3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394960"/>
            <a:ext cx="11155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65099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5532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engines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754880" y="5532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Sora · Veo · ElevenLabs · Kling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503920" y="55321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Substrate — their proliferation worsens the problem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COMPETITIVE LAYERS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WHY NOT THEM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CATEGORIES CONVERGING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won’t an incumbent just build this?”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well-funded categories are pressing toward the coordination layer from four directions. None of them holds the two assets that define TENET.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ABOVE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Work-OS &amp; automation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monday.com, Make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813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— can route a task, can’t translate a domain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27889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THE STUDIO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0" y="3246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trackers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566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Autodesk Flow, ftrack, NIM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0" y="3813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status to producers — no client cost surface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THE SUITE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gen-AI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166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Adobe Firefly + Frame.io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54132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&amp; approve faster — no cost engine on the money flow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4389120"/>
            <a:ext cx="5440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BELOW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0" y="4846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finance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5166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6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Wrapbook, Saturation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54132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 money — never modeled the creative work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DEFENSIBILITY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THE MOAT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ASSETS NONE OF THE FOUR HOLD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survives every rebuttal.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cross-vertical translation.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8D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Re-summarize one specialist’s work into the language the next one speaks — and auto-derive the cascading tasks when a change ripples up or down.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41148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cost &amp; timeline control.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8D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Put the budget-holder in the driver’s seat: dictate up or down, add or cut at the last minute, and watch cost and timeline recompute live. The end of the change-order black box.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5486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Trackers route. Generators make. </a:t>
            </a:r>
            <a:pPr algn="l"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TENET translates.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THE MOAT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THE COMPOUNDING ADVANTAGE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PROJECTS → MORE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produces structured insight about how production runs.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3108960"/>
            <a:ext cx="2240280" cy="914400"/>
          </a:xfrm>
          <a:prstGeom prst="rect">
            <a:avLst/>
          </a:prstGeom>
          <a:solidFill>
            <a:srgbClr val="F0E9DC"/>
          </a:solidFill>
          <a:ln w="15875">
            <a:solidFill>
              <a:srgbClr val="C17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32369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" y="3493008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Projects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61488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3108960"/>
            <a:ext cx="2240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32369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9272" y="3493008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Dataset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13248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06440" y="3108960"/>
            <a:ext cx="2240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71032" y="32369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71032" y="3493008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Coordination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65008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458200" y="3108960"/>
            <a:ext cx="2240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22792" y="32369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22792" y="3493008"/>
            <a:ext cx="1911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Customers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623060" y="4023360"/>
            <a:ext cx="0" cy="457200"/>
          </a:xfrm>
          <a:prstGeom prst="line">
            <a:avLst/>
          </a:prstGeom>
          <a:noFill/>
          <a:ln w="15875">
            <a:solidFill>
              <a:srgbClr val="C17A1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623060" y="4480560"/>
            <a:ext cx="7955280" cy="0"/>
          </a:xfrm>
          <a:prstGeom prst="line">
            <a:avLst/>
          </a:prstGeom>
          <a:noFill/>
          <a:ln w="15875">
            <a:solidFill>
              <a:srgbClr val="C17A1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578340" y="4023360"/>
            <a:ext cx="0" cy="457200"/>
          </a:xfrm>
          <a:prstGeom prst="line">
            <a:avLst/>
          </a:prstGeom>
          <a:noFill/>
          <a:ln w="15875">
            <a:solidFill>
              <a:srgbClr val="C17A1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48056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compounds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50749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 captures anonymized structural signals only — pacing, sequencing, where teams get stuck, how long decisions take. Scripts, brands, and proprietary concepts stay strictly confidential.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502920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 more projects run through TENET, the more valuable it becomes for everyone — </a:t>
            </a:r>
            <a:pPr algn="l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compounding advantage, not a static tool.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THE FLYWHEEL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BUSINESS MODEL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TENET MAKES MONEY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stacked revenue streams.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6858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 / ENTERPRISE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&amp; production companies like JANE on platform contracts.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~$20,000 / mo each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6858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SELF-SERVE SEATS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coordinators and small teams.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0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~$79 / mo per seat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434840"/>
            <a:ext cx="6858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/ CREDITS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for heavy AI translation &amp; reconciliation.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0" y="4617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on subscription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35240" y="1965960"/>
            <a:ext cx="4023360" cy="365760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COMPOUNDS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256032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TENET sits directly on the project’s money flow, per-project and value-based pricing become possible — a small take-rate on coordinated spend, refined with early customers.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0" y="42976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Subscriptions behave like rent. Enterprise accounts are the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tenants.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PRICING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GO TO MARKET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TO THE ENVIRONMENT, RUN PROJECTS INSIDE 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 point is a sprint. The destination is a subscription.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3474720" cy="640080"/>
          </a:xfrm>
          <a:prstGeom prst="rect">
            <a:avLst/>
          </a:prstGeom>
          <a:solidFill>
            <a:srgbClr val="1C1A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VALIDATION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1–3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34747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$45K fixed-fee pilot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workflow design, hands-on, success metrics. We learn the customer’s creative patterns and approval workflows.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51960" y="2514600"/>
            <a:ext cx="3474720" cy="640080"/>
          </a:xfrm>
          <a:prstGeom prst="rect">
            <a:avLst/>
          </a:prstGeom>
          <a:solidFill>
            <a:srgbClr val="1C1A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TRANSITION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3484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4–6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51960" y="3154680"/>
            <a:ext cx="34747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$20K setup + $5K / mo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34840" y="38404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Template-driven onboarding, reduced hands-on time. Customer operates mostly self-serve, with a safety net.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01000" y="2514600"/>
            <a:ext cx="3474720" cy="640080"/>
          </a:xfrm>
          <a:prstGeom prst="rect">
            <a:avLst/>
          </a:prstGeom>
          <a:solidFill>
            <a:srgbClr val="1C1A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PLATFORM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7+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001000" y="3154680"/>
            <a:ext cx="34747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$3K–$8K / mo, usage-based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83880" y="38404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 access, automated workflows. Scalable recurring revenue — the destination for every pilot.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markers from the model: first revenue in month 7 · revenue covers ~60% of the 18-month build · self-sufficiency targeted by month 6.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GO TO MARKET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MARKET OPPORTUNITY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SIZING THE COORDINATION LAYER — NOT THE GENERATION 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sliver of the layer,</a:t>
            </a:r>
            <a:endParaRPr lang="en-US" sz="29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slice of the economy.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486400" cy="365760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337560"/>
            <a:ext cx="3657600" cy="2468880"/>
          </a:xfrm>
          <a:prstGeom prst="rect">
            <a:avLst/>
          </a:prstGeom>
          <a:solidFill>
            <a:srgbClr val="E3D8C2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434840"/>
            <a:ext cx="2011680" cy="1371600"/>
          </a:xfrm>
          <a:prstGeom prst="rect">
            <a:avLst/>
          </a:prstGeom>
          <a:solidFill>
            <a:srgbClr val="C17A1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pPr indent="0" marL="0">
              <a:buNone/>
            </a:pPr>
            <a:r>
              <a:rPr lang="en-US" sz="11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Total content production &amp; coordination spend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0" y="2423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~$255B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pPr indent="0" marL="0">
              <a:buNone/>
            </a:pPr>
            <a:r>
              <a:rPr lang="en-US" sz="11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Production-mgmt &amp; coordination software (by 2030)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~$4.9B</a:t>
            </a:r>
            <a:pPr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8.69% CAGR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pPr indent="0" marL="0">
              <a:buNone/>
            </a:pPr>
            <a:r>
              <a:rPr lang="en-US" sz="110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JANE anchor + early enterprise — ~0.1% of SAM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4983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~$5.4M ARR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MARKET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THE RETURN MATH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IT LIKE A DEVELOPMENT PRO FORMA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in → build the asset → stake ÷ capital in.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around a $19M post-money — the 2025 market standard for an AI-native seed — investors take ~19.7% at close, diluting toward ~11% by exit. The asset’s value is its recurring revenue times a market multiple.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2900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ARR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7220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2396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Investor return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37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46120" y="3337560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337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$3.0M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89320" y="333756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337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41080" y="3337560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0.7×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" y="3995928"/>
            <a:ext cx="2743200" cy="640080"/>
          </a:xfrm>
          <a:prstGeom prst="rect">
            <a:avLst/>
          </a:prstGeom>
          <a:solidFill>
            <a:srgbClr val="F0E9DC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959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46120" y="3995928"/>
            <a:ext cx="2743200" cy="640080"/>
          </a:xfrm>
          <a:prstGeom prst="rect">
            <a:avLst/>
          </a:prstGeom>
          <a:solidFill>
            <a:srgbClr val="F0E9DC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9959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$5.4M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89320" y="3995928"/>
            <a:ext cx="2651760" cy="640080"/>
          </a:xfrm>
          <a:prstGeom prst="rect">
            <a:avLst/>
          </a:prstGeom>
          <a:solidFill>
            <a:srgbClr val="F0E9DC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9959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15×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641080" y="3995928"/>
            <a:ext cx="3017520" cy="640080"/>
          </a:xfrm>
          <a:prstGeom prst="rect">
            <a:avLst/>
          </a:prstGeom>
          <a:solidFill>
            <a:srgbClr val="F0E9DC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39959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2.3×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2920" y="4654296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54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246120" y="4654296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4654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$10.0M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989320" y="465429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465429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22×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641080" y="4654296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23960" y="465429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6.4×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02920" y="5532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At a defensible $19M post, the base case returns ~2.3×. Clearing 3×+ </a:t>
            </a:r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ARR above ~$6.9M or a higher exit multiple — comes from the upside.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RETURNS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THE ASK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· PRICED EQUITY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474720" cy="1828800"/>
          </a:xfrm>
          <a:prstGeom prst="rect">
            <a:avLst/>
          </a:prstGeom>
          <a:solidFill>
            <a:srgbClr val="232019"/>
          </a:solidFill>
          <a:ln w="9525">
            <a:solidFill>
              <a:srgbClr val="3A3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~16-month runway, tighter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286000"/>
            <a:ext cx="3474720" cy="1828800"/>
          </a:xfrm>
          <a:prstGeom prst="rect">
            <a:avLst/>
          </a:prstGeom>
          <a:solidFill>
            <a:srgbClr val="2A2620"/>
          </a:solidFill>
          <a:ln w="15875">
            <a:solidFill>
              <a:srgbClr val="C17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26280" y="2788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$3.75M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26280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with a thin cushion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2286000"/>
            <a:ext cx="3474720" cy="1828800"/>
          </a:xfrm>
          <a:prstGeom prst="rect">
            <a:avLst/>
          </a:prstGeom>
          <a:solidFill>
            <a:srgbClr val="232019"/>
          </a:solidFill>
          <a:ln w="9525">
            <a:solidFill>
              <a:srgbClr val="3A35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75320" y="2788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$4.5M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75320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toward 22 months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5262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8D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18-month operating burn is ~$3.71M. The target covers it with reserve; the floor executes the same plan on a shorter runway. $250K minimum check · ~15 investors · priced equity with a ~$66K convertible bridge that converts in at close.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B8A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THE ASK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USE OF FUNDS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$3.75M TARGET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68580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57400"/>
            <a:ext cx="6583680" cy="164592"/>
          </a:xfrm>
          <a:prstGeom prst="rect">
            <a:avLst/>
          </a:prstGeom>
          <a:solidFill>
            <a:srgbClr val="C17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67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infrastructure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20640" y="22677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$1.80M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22677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761488"/>
            <a:ext cx="68580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98648"/>
            <a:ext cx="2688336" cy="164592"/>
          </a:xfrm>
          <a:prstGeom prst="rect">
            <a:avLst/>
          </a:prstGeom>
          <a:solidFill>
            <a:srgbClr val="F0E9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operations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2064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$735K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3108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02736"/>
            <a:ext cx="68580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739896"/>
            <a:ext cx="1522476" cy="164592"/>
          </a:xfrm>
          <a:prstGeom prst="rect">
            <a:avLst/>
          </a:prstGeom>
          <a:solidFill>
            <a:srgbClr val="F0E9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50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Reserves / contingency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20640" y="39502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$419K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0" y="39502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443984"/>
            <a:ext cx="68580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581144"/>
            <a:ext cx="1467612" cy="164592"/>
          </a:xfrm>
          <a:prstGeom prst="rect">
            <a:avLst/>
          </a:prstGeom>
          <a:solidFill>
            <a:srgbClr val="F0E9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914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product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20640" y="47914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$400K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92240" y="479145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5285232"/>
            <a:ext cx="68580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422392"/>
            <a:ext cx="1453896" cy="164592"/>
          </a:xfrm>
          <a:prstGeom prst="rect">
            <a:avLst/>
          </a:prstGeom>
          <a:solidFill>
            <a:srgbClr val="F0E9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6327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strategy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120640" y="56327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$396K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92240" y="563270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26680" y="2011680"/>
            <a:ext cx="3931920" cy="3931920"/>
          </a:xfrm>
          <a:prstGeom prst="rect">
            <a:avLst/>
          </a:prstGeom>
          <a:solidFill>
            <a:srgbClr val="F0E9DC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256032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ANONA is the entity being funded.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 capitalizes ANONA and the TENET build. Nothing funds any other company.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0" y="370332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JANE is a related-party customer.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flows one way — JANE pays ANONA under an arms-length agreement.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55280" y="48463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bridge is a subset of the round.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~$66K funds the first 90 days and converts at close.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USE OF FUNDS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CAP TABLE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OWNERSHIP AT CLOSE &amp; AT EXIT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$250K check returns.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 at close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 at exit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 at exit (base)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966960" y="2011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9572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· 7 investors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11880" y="2395728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39572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2.63%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32120" y="2395728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39572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2395728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957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~$1.17M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829800" y="2395728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0" y="23957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2980944"/>
            <a:ext cx="3108960" cy="566928"/>
          </a:xfrm>
          <a:prstGeom prst="rect">
            <a:avLst/>
          </a:prstGeom>
          <a:solidFill>
            <a:srgbClr val="F0E9DC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98094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 · 15 investors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11880" y="2980944"/>
            <a:ext cx="1920240" cy="566928"/>
          </a:xfrm>
          <a:prstGeom prst="rect">
            <a:avLst/>
          </a:prstGeom>
          <a:solidFill>
            <a:srgbClr val="F0E9DC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98094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1.32%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32120" y="2980944"/>
            <a:ext cx="1920240" cy="566928"/>
          </a:xfrm>
          <a:prstGeom prst="rect">
            <a:avLst/>
          </a:prstGeom>
          <a:solidFill>
            <a:srgbClr val="F0E9DC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298094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52360" y="2980944"/>
            <a:ext cx="2377440" cy="566928"/>
          </a:xfrm>
          <a:prstGeom prst="rect">
            <a:avLst/>
          </a:prstGeom>
          <a:solidFill>
            <a:srgbClr val="F0E9DC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298094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~$584K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829800" y="2980944"/>
            <a:ext cx="1280160" cy="566928"/>
          </a:xfrm>
          <a:prstGeom prst="rect">
            <a:avLst/>
          </a:prstGeom>
          <a:solidFill>
            <a:srgbClr val="F0E9DC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0" y="2980944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2.3×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3566160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5661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 · 25 investors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611880" y="3566160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35661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532120" y="3566160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35661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52360" y="3566160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35661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~$350K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829800" y="3566160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6960" y="35661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" y="4151376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15137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 · 37 investors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3611880" y="4151376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49040" y="415137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532120" y="4151376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0" y="415137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0.29%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452360" y="4151376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9520" y="415137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~$233K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829800" y="4151376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66960" y="415137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2.3×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02920" y="4937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 multiple is identical across check sizes — the minimum decides how many investors and how large each stake, not the return. Fewer, larger checks keep the table clean.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" y="5623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Ownership at close: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existing 80.3%   ·   New seed investors 19.7%   ·   of which bridge ~0.3%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CAP TABLE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TEAM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 &amp; ADVISORS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Who’s building it.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42062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 / OWNER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Parker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Twenty-six years in VFX &amp; directing; led launches at The Mill NY &amp; LA; Cannes-winning work; built and ran Jogger at Cut+Run. Built and runs JANE Studios, 2017 to present — a 100% founder-owned vehicle for this product.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ADVISORS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2788920"/>
            <a:ext cx="32004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0" y="2542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partner; live-job testing &amp; craft feedback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12480" y="2788920"/>
            <a:ext cx="32004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Westley Sarokin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542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CD; Emmy-nominated; 14 yrs at The Mill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3611880"/>
            <a:ext cx="32004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Rama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3364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Producer; client development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12480" y="3611880"/>
            <a:ext cx="32004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Planet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0" y="3364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Corwin &amp; Klein — award-winning editorial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4434840"/>
            <a:ext cx="32004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Laurent Ledru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0" y="4187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/ CD; immersive, animation, AI creator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12480" y="4434840"/>
            <a:ext cx="32004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Schreiber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4187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CD; writer/director, advertising &amp; long-form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0" y="5257800"/>
            <a:ext cx="32004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Sposato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0" y="5010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Production; fast-turn delivery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12480" y="5257800"/>
            <a:ext cx="320040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 Parker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12480" y="5010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GTM counsel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TEAM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FINANCIAL PROJECTIONS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18-MONTH RAMP TO SERIES 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ramp — enterprise-first, JANE-anchored.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69494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5577840"/>
            <a:ext cx="694944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468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2920" y="4754880"/>
            <a:ext cx="694944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451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$1.5M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694944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694944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92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$4.5M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694944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762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$6M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955664" y="5413248"/>
            <a:ext cx="408791" cy="0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364454" y="5232197"/>
            <a:ext cx="408791" cy="181051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773245" y="5045659"/>
            <a:ext cx="408791" cy="186538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4182035" y="4842662"/>
            <a:ext cx="408791" cy="202997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4590826" y="4623206"/>
            <a:ext cx="408791" cy="219456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4999616" y="4381804"/>
            <a:ext cx="408791" cy="241402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5408407" y="4112971"/>
            <a:ext cx="408791" cy="268834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817198" y="3816705"/>
            <a:ext cx="408791" cy="296266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225988" y="3498495"/>
            <a:ext cx="408791" cy="318211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6634779" y="3152851"/>
            <a:ext cx="408791" cy="345643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043569" y="2626157"/>
            <a:ext cx="408791" cy="526694"/>
          </a:xfrm>
          <a:prstGeom prst="line">
            <a:avLst/>
          </a:prstGeom>
          <a:noFill/>
          <a:ln w="28575">
            <a:solidFill>
              <a:srgbClr val="C17A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79208" y="2553005"/>
            <a:ext cx="146304" cy="146304"/>
          </a:xfrm>
          <a:prstGeom prst="ellipse">
            <a:avLst/>
          </a:prstGeom>
          <a:solidFill>
            <a:srgbClr val="C17A1F"/>
          </a:solidFill>
          <a:ln w="12700">
            <a:solidFill>
              <a:srgbClr val="C17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214677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$5.38M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1757477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EXIT-RATE ARR</a:t>
            </a:r>
            <a:endParaRPr lang="en-US" sz="650" dirty="0"/>
          </a:p>
          <a:p>
            <a:pPr algn="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18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02920" y="5687568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POST-RAISE →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726680" y="2331720"/>
            <a:ext cx="393192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2423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726680" y="2788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revenue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26680" y="3200400"/>
            <a:ext cx="393192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72668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18-mo build burn covered by revenue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26680" y="4069080"/>
            <a:ext cx="393192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18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726680" y="4526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$5.38M exit-rate ARR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726680" y="4937760"/>
            <a:ext cx="393192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26680" y="5029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18–22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7726680" y="5394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window from traction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PROJECTIONS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REAL-WORLD DEPLOYMENT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INSIDE REAL CREATIVE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building in isolation.</a:t>
            </a:r>
            <a:endParaRPr lang="en-US" sz="2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building inside real creative work.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53949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DEPLOYED INSIDE JANE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 is deployed immediately within JANE’s professional production environment. JANE operates as: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4059936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93192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paying customer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443984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3159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beta partner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828032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70001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test case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5212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 is a separate, independently owned company — not a subsidiary of ANONA — running commercial work for brands including AT&amp;T and Cisco, with Lost Planet Editorial. Its spend is genuine third-party validation.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PROVIDES, FROM DAY ONE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3310128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3191256"/>
            <a:ext cx="50566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revenue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813048"/>
            <a:ext cx="534924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968496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3849624"/>
            <a:ext cx="50566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product feedback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4471416"/>
            <a:ext cx="534924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626864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4507992"/>
            <a:ext cx="50566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budget environments to validate quality and cost impact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5129784"/>
            <a:ext cx="534924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5285232"/>
            <a:ext cx="164592" cy="0"/>
          </a:xfrm>
          <a:prstGeom prst="line">
            <a:avLst/>
          </a:prstGeom>
          <a:noFill/>
          <a:ln w="25400">
            <a:solidFill>
              <a:srgbClr val="C17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5166360"/>
            <a:ext cx="50566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exposure to major industry clients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5788152"/>
            <a:ext cx="534924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585216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goal: make TENET the starting point of every project inside our production workflow.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JANE · DEPLOYMENT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WHAT WE’RE WATCHING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HONEST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risks — and how we hold them.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layer is contested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funded categories converge on coordination. None holds translation + client cost control — we lead with that intersection, not an “empty field” claim.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Multiple-compression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260604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investor anchored on audio-AI multiples (ElevenLabs ~25–33×) will pressure our exit. We anchor instead on the soberer coordination comp (Wrapbook ~$750M on ~50% growth) and run 8×/15×/22×.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3× gap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$19M post the base case is ~2.3×; clearing 3× leans on the upside. We state this openly — ARR above ~$6.9M or a higher multiple gets there.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393192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anchor customer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457200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 is one customer. The pilot-to-platform motion and the seat ramp are how we de-risk concentration over the 18 months.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RISK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THE CATEGORY IS REAL   </a:t>
            </a:r>
            <a:pPr algn="l" indent="0" marL="0">
              <a:buNone/>
            </a:pPr>
            <a:r>
              <a:rPr lang="en-US" sz="900" spc="2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COMPARABLE PROOF POINTS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41148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paying market already exists.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1155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Magnific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~$230M ARR, bootstrapped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1M+ subscribers, 250+ enterprise (BBC, Puma, Prime Video)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11155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2971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~$500M ARR · $11B 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9718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frontier-model multiple (~25–33×) — our aggressive comp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11155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Wrapbook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3931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$750M val · ~50% growth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9319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finance — the soberer coordination comp we anchor 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800600"/>
            <a:ext cx="11155680" cy="0"/>
          </a:xfrm>
          <a:prstGeom prst="line">
            <a:avLst/>
          </a:prstGeom>
          <a:noFill/>
          <a:ln w="9525">
            <a:solidFill>
              <a:srgbClr val="DA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92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monday.com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17520" y="4892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$351M Q1’26 rev (+24%)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8920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Work-OS pressing into the layer from above; AI ~10% of net-new ARR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 needs only a sliver of a category the market has already proven. The bet isn’t that TENET becomes the whole market — it’s that it owns the coordination layer above it.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PROOF POINTS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ANONA × TENET   </a:t>
            </a:r>
            <a:pPr algn="l" indent="0" marL="0">
              <a:buNone/>
            </a:pP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852160" y="2194560"/>
            <a:ext cx="457200" cy="0"/>
          </a:xfrm>
          <a:prstGeom prst="line">
            <a:avLst/>
          </a:prstGeom>
          <a:noFill/>
          <a:ln w="19050">
            <a:solidFill>
              <a:srgbClr val="C1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Mind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C17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First.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3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coordination layer for complex production — translation, and live cost control for the client.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CONTACT   </a:t>
            </a:r>
            <a:pPr algn="ctr" indent="0" marL="0">
              <a:buNone/>
            </a:pPr>
            <a:r>
              <a:rPr lang="en-US" sz="1200" u="sng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david@anona.tv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ANONA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</a:t>
            </a:r>
            <a:pPr indent="0" marL="0">
              <a:buNone/>
            </a:pPr>
            <a:r>
              <a:rPr lang="en-US" sz="850" spc="100" kern="0" dirty="0">
                <a:solidFill>
                  <a:srgbClr val="C17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TENET</a:t>
            </a:r>
            <a:pPr indent="0" marL="0">
              <a:buNone/>
            </a:pPr>
            <a:r>
              <a:rPr lang="en-US" sz="850" spc="100" kern="0" dirty="0">
                <a:solidFill>
                  <a:srgbClr val="9A9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·   SEED · $3.75M TARGET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2026-06-04T03:30:30Z</dcterms:created>
  <dcterms:modified xsi:type="dcterms:W3CDTF">2026-06-04T03:30:30Z</dcterms:modified>
</cp:coreProperties>
</file>