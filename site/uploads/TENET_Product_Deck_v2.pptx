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INVESTOR &amp; CTO CONVERSATION   </a:t>
            </a:r>
            <a:pPr algn="l" indent="0" marL="0">
              <a:buNone/>
            </a:pP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 COMPANY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spc="6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ANONA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collaborative creative software company.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2084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PRODUCT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29400" y="16916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spc="400" kern="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6720840" y="30632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coordination layer for complex production — it carries the work correctly between specialists, and gives the client live control over cost and time.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6172200"/>
            <a:ext cx="111556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263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David Parker — a founder with twenty-six years solving production, storytelling, and visual-execution problems across advertising and film.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ORIGIN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TWENTY-SIX YEARS IN THE ROOM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we’re building this.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twenty-six years we’ve watched the same thing happen in the same rooms.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moves before clarity does. Strong ideas die because no one can feel them yet — and weaker ideas survive because they’re the only thing on the table when the clock runs out. The same fault line runs through every room: the gap between someone’s idea and the version everyone can finally see.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3A3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TENET is the tool we’ve wished we could hand someone since the first time we watched a creative call cost a client three hundred thousand dollars they didn’t need to spend.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892808"/>
            <a:ext cx="54406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1999 →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7804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0" y="1965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effects on major campaigns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2459736"/>
            <a:ext cx="54406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5328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78040" y="2532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PSYOP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0" y="25328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and visual effects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3026664"/>
            <a:ext cx="54406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0998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78040" y="30998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0" y="309981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VFX, brand &amp; film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3593592"/>
            <a:ext cx="54406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6667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78040" y="36667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0" y="366674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VFX, episodic &amp; brand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4160520"/>
            <a:ext cx="54406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2336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78040" y="42336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MJZ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0" y="42336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Director, DGA member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4727448"/>
            <a:ext cx="54406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800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78040" y="4800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JOGGER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44000" y="48006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inside Cut+Run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5294376"/>
            <a:ext cx="54406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5367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 →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178040" y="53675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144000" y="53675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operator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ORIGIN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THE PROBLEM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OF CHANGE OVER TIME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production starts moving,</a:t>
            </a:r>
            <a:endParaRPr lang="en-US" sz="3100" dirty="0"/>
          </a:p>
          <a:p>
            <a:pPr algn="l" indent="0" marL="0">
              <a:lnSpc>
                <a:spcPts val="3700"/>
              </a:lnSpc>
              <a:buNone/>
            </a:pPr>
            <a:r>
              <a:rPr lang="en-US" sz="3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 disappears fast.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3A3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It’s like realizing you want the bedroom two feet larger after the roof is already on the house.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3657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generate beautiful images and video faster than ever — but the core problem hasn’t changed.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4361688"/>
            <a:ext cx="50292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434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60120" y="4434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still evolve.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800600"/>
            <a:ext cx="50292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8737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60120" y="48737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still react.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5239512"/>
            <a:ext cx="50292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5312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60120" y="53126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still struggle to align.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678424"/>
            <a:ext cx="50292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7515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60120" y="575157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ideas still arrive too late.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OF CHANGE →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 flipV="1">
            <a:off x="6217920" y="5216652"/>
            <a:ext cx="1088136" cy="211226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7306056" y="4764024"/>
            <a:ext cx="1088136" cy="452628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8394192" y="4009644"/>
            <a:ext cx="1088136" cy="75438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9482328" y="3255264"/>
            <a:ext cx="1088136" cy="754380"/>
          </a:xfrm>
          <a:prstGeom prst="line">
            <a:avLst/>
          </a:prstGeom>
          <a:noFill/>
          <a:ln w="28575">
            <a:solidFill>
              <a:srgbClr val="C17A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570464" y="2893162"/>
            <a:ext cx="1088136" cy="362102"/>
          </a:xfrm>
          <a:prstGeom prst="line">
            <a:avLst/>
          </a:prstGeom>
          <a:noFill/>
          <a:ln w="28575">
            <a:solidFill>
              <a:srgbClr val="C17A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603736" y="2838298"/>
            <a:ext cx="109728" cy="109728"/>
          </a:xfrm>
          <a:prstGeom prst="oval">
            <a:avLst/>
          </a:prstGeom>
          <a:solidFill>
            <a:srgbClr val="C17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34061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is catastrophic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5382158"/>
            <a:ext cx="1371600" cy="502920"/>
          </a:xfrm>
          <a:prstGeom prst="rect">
            <a:avLst/>
          </a:prstGeom>
          <a:solidFill>
            <a:srgbClr val="F0E9DC"/>
          </a:solidFill>
          <a:ln w="9525">
            <a:solidFill>
              <a:srgbClr val="C17A1F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263640" y="542787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OPERATES HERE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852160" y="5715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212330" y="5715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572500" y="5715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932670" y="5715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Editorial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292840" y="5715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744200" y="5943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→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THE PROBLEM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DEFINITION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CLARITY SLIDE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TENET actually is.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coordination layer for complex production. It carries each specialist’s work to the next — summarized correctly, in the language that team speaks — and keeps cost and timeline live for the client as the work moves.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063240"/>
            <a:ext cx="3429000" cy="2743200"/>
          </a:xfrm>
          <a:prstGeom prst="rect">
            <a:avLst/>
          </a:prstGeom>
          <a:solidFill>
            <a:srgbClr val="F0E9DC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46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FEEDS 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· Ideas · References · Client constraints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3063240"/>
            <a:ext cx="34290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3246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 CARRIES 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34840" y="36118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· Translate · Reconcile · Price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5349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Bidirectional, in real 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09560" y="3063240"/>
            <a:ext cx="3429000" cy="2743200"/>
          </a:xfrm>
          <a:prstGeom prst="rect">
            <a:avLst/>
          </a:prstGeom>
          <a:solidFill>
            <a:srgbClr val="F0E9DC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246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FLOWS DOWNSTREAM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138160" y="36118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· VFX · Production · AI generation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438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DEFINITION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THE BACKBONE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 CORRECTLY, IN BOTH DIRECTIONS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is summarizing each specialist’s work for the next one.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54406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ELECTRICAL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precision: load capacity, circuit layout, code compliance. “There will be outlets in every room” is uselessly vague.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49834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INTERIOR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46177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color, layout, materials, feel — not the size of the paint can. That detail is right for electrical, wrong for design.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BIDIRECTIONAL, IN REAL 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09360" y="297180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Reshape a room mid-project and the change ripples into exactly the tasks electrical, structure, budget, and timeline each need — flagged cleanly, reconciled, not chaotic.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416052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the other way too. An electrician hits a code conflict that forces a structural change — that ripples back up to the designer, in the language they need. No bottleneck.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530352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is what separates a real workflow system from a task tracker.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TRANSLATION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WHO WINS MOST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CLIENT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Opacity, replaced with mathematics.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8D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decisive value lands with the client. They move from being held hostage by opacity to having real-time visibility and control.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291840"/>
            <a:ext cx="3429000" cy="2011680"/>
          </a:xfrm>
          <a:prstGeom prst="rect">
            <a:avLst/>
          </a:prstGeom>
          <a:solidFill>
            <a:srgbClr val="232019"/>
          </a:solidFill>
          <a:ln w="9525">
            <a:solidFill>
              <a:srgbClr val="3A35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Dictate by budget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or down — and watch the financial impact play out in real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3291840"/>
            <a:ext cx="3429000" cy="2011680"/>
          </a:xfrm>
          <a:prstGeom prst="rect">
            <a:avLst/>
          </a:prstGeom>
          <a:solidFill>
            <a:srgbClr val="232019"/>
          </a:solidFill>
          <a:ln w="9525">
            <a:solidFill>
              <a:srgbClr val="3A35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3794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at the last minute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34840" y="44348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or cut items and immediately see how it lands on cost and timeline.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09560" y="3291840"/>
            <a:ext cx="3429000" cy="2011680"/>
          </a:xfrm>
          <a:prstGeom prst="rect">
            <a:avLst/>
          </a:prstGeom>
          <a:solidFill>
            <a:srgbClr val="232019"/>
          </a:solidFill>
          <a:ln w="9525">
            <a:solidFill>
              <a:srgbClr val="3A35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0" y="3794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black box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38160" y="44348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says “that can’t be done” out of laziness; no one weaponizes a change request into gouging.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5577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Anyone who has ever run a project knows the change-order black box. </a:t>
            </a:r>
            <a:pPr algn="l"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TENET ends it.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THE CLIENT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PRODUCTION REALITY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PART NO ONE TALKS ABOUT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type a prompt, a finished shot appears. In real production, that’s fiction.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34290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EDITORIAL WASTE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frames generated. Three survive the cut.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06240" y="2468880"/>
            <a:ext cx="34290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PHOTOREAL ≠ PRODUCTION-READY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434840" y="3017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frame. Wrong logo, wrong tagline, wrong brand color.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09560" y="2468880"/>
            <a:ext cx="34290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CRAFT IS THE DIFFERENCE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138160" y="3017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Lens, light, deliberate imperfection — the things AI doesn’t know to do.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4297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 WORK IN SERIES — EACH TEAM WAITS FOR THE LAST ONE TO FINISH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4663440"/>
            <a:ext cx="1280160" cy="1234440"/>
          </a:xfrm>
          <a:prstGeom prst="rect">
            <a:avLst/>
          </a:prstGeom>
          <a:solidFill>
            <a:srgbClr val="F0E9DC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663440"/>
            <a:ext cx="1280160" cy="54864"/>
          </a:xfrm>
          <a:prstGeom prst="rect">
            <a:avLst/>
          </a:prstGeom>
          <a:solidFill>
            <a:srgbClr val="C17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4800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901952" y="4663440"/>
            <a:ext cx="12801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4800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011680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waiting…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300984" y="4663440"/>
            <a:ext cx="12801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4800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10712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waiting…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00016" y="4663440"/>
            <a:ext cx="12801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4800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09744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waiting…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099048" y="4663440"/>
            <a:ext cx="12801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08776" y="4800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08776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waiting…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498080" y="4663440"/>
            <a:ext cx="12801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07808" y="4800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VFX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607808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waiting…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897112" y="4663440"/>
            <a:ext cx="12801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06840" y="4800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006840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waiting…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0296144" y="4663440"/>
            <a:ext cx="12801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05872" y="4800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Snd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405872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waiting…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PRODUCTION REALITY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STRATEGIC POSITION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ABOVE THE EXECUTION 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AI companies optimize execution.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3291840" cy="1005840"/>
          </a:xfrm>
          <a:prstGeom prst="rect">
            <a:avLst/>
          </a:prstGeom>
          <a:solidFill>
            <a:srgbClr val="F0E9DC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926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COORDINATION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3749040"/>
            <a:ext cx="0" cy="457200"/>
          </a:xfrm>
          <a:prstGeom prst="line">
            <a:avLst/>
          </a:prstGeom>
          <a:noFill/>
          <a:ln w="12700">
            <a:solidFill>
              <a:srgbClr val="9A93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4297680"/>
            <a:ext cx="1325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4348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High-fidelity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65960" y="4297680"/>
            <a:ext cx="1325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44348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29000" y="4297680"/>
            <a:ext cx="1325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44348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92040" y="4297680"/>
            <a:ext cx="1325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44348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55080" y="4297680"/>
            <a:ext cx="1325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4348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0" y="274320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3A3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AI companies optimize execution.
</a:t>
            </a:r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3A3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TENET optimizes </a:t>
            </a:r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alignment.
</a:t>
            </a:r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3A3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The output is </a:t>
            </a:r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conviction.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STRATEGIC POSITION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WORKING SESSION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RAPID CREATIVE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 starts before production.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stage is rapid creative exploration. Final rendering comes much later — and only on the shots that earn it. The sequence evolves live during reviews, with every department reacting to the same thing at the same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111556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788920"/>
            <a:ext cx="11155680" cy="411480"/>
          </a:xfrm>
          <a:prstGeom prst="rect">
            <a:avLst/>
          </a:prstGeom>
          <a:solidFill>
            <a:srgbClr val="1C1A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620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D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MOJO · JETT JOURNEY  /  Sequence v0.3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01200" y="2862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· 4 IN SESSION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 · SCENE 14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EXT. STREET CORNER — 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9319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JETT blasts through the city. A dance circle forms. Beats stack. JETT crashes straight into the middle — and the crowd LOCKS IN.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3657600"/>
            <a:ext cx="2743200" cy="777240"/>
          </a:xfrm>
          <a:prstGeom prst="rect">
            <a:avLst/>
          </a:prstGeom>
          <a:solidFill>
            <a:srgbClr val="F0E9DC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3749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 · 4M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977640" y="3977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14a another six frames before cutting to 14b.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03920" y="3566160"/>
            <a:ext cx="2743200" cy="777240"/>
          </a:xfrm>
          <a:prstGeom prst="rect">
            <a:avLst/>
          </a:prstGeom>
          <a:solidFill>
            <a:srgbClr val="F0E9DC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36576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 · 2M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64108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angle is right. Keep the kinetic line.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0" y="4937760"/>
            <a:ext cx="2743200" cy="777240"/>
          </a:xfrm>
          <a:prstGeom prst="rect">
            <a:avLst/>
          </a:prstGeom>
          <a:solidFill>
            <a:srgbClr val="F0E9DC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5029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· 30S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989320" y="5257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MOJO tablets need to read in 3a–3c.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WORKING SESSION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INTEGRATION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MOAT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around existing editorial workflows.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 is not an editing platform. Editors stay in Premiere, Avid, Resolve. TENET feeds those tools — and learns from them.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3108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99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sequence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ROUGH CUT · V0.3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3108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959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metadata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 · TAKE · VERSION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3108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919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257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/ MERGE / REVERT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297680" y="3017520"/>
            <a:ext cx="3611880" cy="2377440"/>
          </a:xfrm>
          <a:prstGeom prst="rect">
            <a:avLst/>
          </a:prstGeom>
          <a:solidFill>
            <a:srgbClr val="F0E9DC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36576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297680" y="42976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COLLABORATIVE DEVELOPMENT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EDL · XML · CUT DECISIONS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549640" y="2834640"/>
            <a:ext cx="3108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2999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3252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ADOBE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549640" y="3794760"/>
            <a:ext cx="3108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3959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32520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COMPOSER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549640" y="4754880"/>
            <a:ext cx="3108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4919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32520" y="5257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DAVINCI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11880" y="4206240"/>
            <a:ext cx="685800" cy="0"/>
          </a:xfrm>
          <a:prstGeom prst="line">
            <a:avLst/>
          </a:prstGeom>
          <a:noFill/>
          <a:ln w="12700">
            <a:solidFill>
              <a:srgbClr val="DAD3C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909560" y="4206240"/>
            <a:ext cx="640080" cy="0"/>
          </a:xfrm>
          <a:prstGeom prst="line">
            <a:avLst/>
          </a:prstGeom>
          <a:noFill/>
          <a:ln w="12700">
            <a:solidFill>
              <a:srgbClr val="DAD3C8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02920" y="5669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 tracks what editorial returns: which shots survived, which didn’t, and where craft refinement is worth the money.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INTEGRATION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SAME CANVAS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COLLABORATIVE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canvas. Same hero shot. Eight departments.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craft people, working at the same time, against the same evolving target. This is where TENET expands from advertising into feature films, episodic storytelling, and large-scale collaborative productions.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2834640"/>
            <a:ext cx="4572000" cy="2834640"/>
          </a:xfrm>
          <a:prstGeom prst="rect">
            <a:avLst/>
          </a:prstGeom>
          <a:solidFill>
            <a:srgbClr val="1C1A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LOCKED FRAME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0" y="5303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04:21:08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3017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2971800"/>
            <a:ext cx="91440" cy="91440"/>
          </a:xfrm>
          <a:prstGeom prst="rect">
            <a:avLst/>
          </a:prstGeom>
          <a:solidFill>
            <a:srgbClr val="C17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design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5528" y="3200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· PROPS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8229600" y="2834640"/>
            <a:ext cx="3017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2971800"/>
            <a:ext cx="91440" cy="91440"/>
          </a:xfrm>
          <a:prstGeom prst="rect">
            <a:avLst/>
          </a:prstGeom>
          <a:solidFill>
            <a:srgbClr val="C17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22208" y="3200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 · BLOCKING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3017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" y="3794760"/>
            <a:ext cx="91440" cy="91440"/>
          </a:xfrm>
          <a:prstGeom prst="rect">
            <a:avLst/>
          </a:prstGeom>
          <a:solidFill>
            <a:srgbClr val="C17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95528" y="40233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SCOUTING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8229600" y="3657600"/>
            <a:ext cx="3017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9328" y="3794760"/>
            <a:ext cx="91440" cy="91440"/>
          </a:xfrm>
          <a:prstGeom prst="rect">
            <a:avLst/>
          </a:prstGeom>
          <a:solidFill>
            <a:srgbClr val="C17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22208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2208" y="40233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2920" y="4480560"/>
            <a:ext cx="3017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4617720"/>
            <a:ext cx="91440" cy="91440"/>
          </a:xfrm>
          <a:prstGeom prst="rect">
            <a:avLst/>
          </a:prstGeom>
          <a:solidFill>
            <a:srgbClr val="C17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4572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5528" y="48463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CASTING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229600" y="4480560"/>
            <a:ext cx="3017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9328" y="4617720"/>
            <a:ext cx="91440" cy="91440"/>
          </a:xfrm>
          <a:prstGeom prst="rect">
            <a:avLst/>
          </a:prstGeom>
          <a:solidFill>
            <a:srgbClr val="C17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22208" y="4572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VFX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522208" y="48463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PLANNING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02920" y="5303520"/>
            <a:ext cx="3017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" y="5440680"/>
            <a:ext cx="91440" cy="91440"/>
          </a:xfrm>
          <a:prstGeom prst="rect">
            <a:avLst/>
          </a:prstGeom>
          <a:solidFill>
            <a:srgbClr val="C17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5394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Costume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95528" y="56692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STYLING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229600" y="5303520"/>
            <a:ext cx="3017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39328" y="5440680"/>
            <a:ext cx="91440" cy="91440"/>
          </a:xfrm>
          <a:prstGeom prst="rect">
            <a:avLst/>
          </a:prstGeom>
          <a:solidFill>
            <a:srgbClr val="C17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22208" y="5394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522208" y="56692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ATMOSPHERE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108960" y="5852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departments earlier — not fewer.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COLLABORATION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ENTERPRISE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INTEGRITY LAYER · CISCO PROFILE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integrity layer.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brand system once. TENET turns rules into structured production logic — applied automatically across every generated asset, edit, cutdown, and regional variant.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2743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PROFILE · CISCO V1.4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face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0" y="32461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CiscoSansTT Reg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face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36118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CiscoSansTT XLt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limit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0" y="39776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char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" y="4343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height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28800" y="43434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16.7% 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(16:9)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 · ≥5s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5074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placement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28800" y="50749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 from btm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5440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logos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28800" y="54406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≤12% 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29000" y="2743200"/>
            <a:ext cx="4572000" cy="3108960"/>
          </a:xfrm>
          <a:prstGeom prst="rect">
            <a:avLst/>
          </a:prstGeom>
          <a:solidFill>
            <a:srgbClr val="1C1A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8803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 · 1920×1080 · CISCO PROFILE LOADED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66160" y="4937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single line of text.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5212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CISCO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83880" y="2743200"/>
            <a:ext cx="347472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· 12 / 12 OK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66760" y="3246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 · 1920×1080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201400" y="32461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66760" y="35295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 · 4K UHD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201400" y="35295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3813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 · 8K UHD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201400" y="381304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66760" y="40965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9:16 · vertical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201400" y="40965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66760" y="43799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· square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201400" y="43799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66760" y="4663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15s cutdown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201400" y="46634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366760" y="49469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6s bumper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201400" y="49469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66760" y="5230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· TL bug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201400" y="52303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66760" y="55138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· cisco.com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201400" y="551383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CISCO PROFILE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ANONA × TENET   </a:t>
            </a:r>
            <a:pPr algn="l" indent="0" marL="0">
              <a:buNone/>
            </a:pP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 starts after the story works.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other AI workflow starts with a guess.
</a:t>
            </a:r>
            <a:pPr algn="l"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rgbClr val="D8D0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TENET starts with </a:t>
            </a:r>
            <a:pPr algn="l"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CONTACT   </a:t>
            </a:r>
            <a:pPr indent="0" marL="0">
              <a:buNone/>
            </a:pPr>
            <a:r>
              <a:rPr lang="en-US" sz="1200" u="sng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david@anona.tv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THE COORDINATION LAYER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2026-06-04T03:11:48Z</dcterms:created>
  <dcterms:modified xsi:type="dcterms:W3CDTF">2026-06-04T03:11:48Z</dcterms:modified>
</cp:coreProperties>
</file>